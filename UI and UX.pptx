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Open Sans" charset="1" panose="020B0606030504020204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41599" y="3655499"/>
            <a:ext cx="12004802" cy="304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77"/>
              </a:lnSpc>
            </a:pPr>
            <a:r>
              <a:rPr lang="en-US" b="true" sz="11765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UI ELEMENTS &amp; UX DESIGN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644591">
            <a:off x="14264060" y="-3736254"/>
            <a:ext cx="8047880" cy="8132468"/>
          </a:xfrm>
          <a:custGeom>
            <a:avLst/>
            <a:gdLst/>
            <a:ahLst/>
            <a:cxnLst/>
            <a:rect r="r" b="b" t="t" l="l"/>
            <a:pathLst>
              <a:path h="8132468" w="8047880">
                <a:moveTo>
                  <a:pt x="0" y="0"/>
                </a:moveTo>
                <a:lnTo>
                  <a:pt x="8047880" y="0"/>
                </a:lnTo>
                <a:lnTo>
                  <a:pt x="8047880" y="8132467"/>
                </a:lnTo>
                <a:lnTo>
                  <a:pt x="0" y="8132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00156" y="5603687"/>
            <a:ext cx="4692490" cy="2533945"/>
          </a:xfrm>
          <a:custGeom>
            <a:avLst/>
            <a:gdLst/>
            <a:ahLst/>
            <a:cxnLst/>
            <a:rect r="r" b="b" t="t" l="l"/>
            <a:pathLst>
              <a:path h="2533945" w="4692490">
                <a:moveTo>
                  <a:pt x="0" y="0"/>
                </a:moveTo>
                <a:lnTo>
                  <a:pt x="4692490" y="0"/>
                </a:lnTo>
                <a:lnTo>
                  <a:pt x="4692490" y="2533945"/>
                </a:lnTo>
                <a:lnTo>
                  <a:pt x="0" y="2533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53382" y="6813509"/>
            <a:ext cx="5945588" cy="103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05">
                <a:solidFill>
                  <a:srgbClr val="1C74BB"/>
                </a:solidFill>
                <a:latin typeface="Open Sans"/>
                <a:ea typeface="Open Sans"/>
                <a:cs typeface="Open Sans"/>
                <a:sym typeface="Open Sans"/>
              </a:rPr>
              <a:t>Presented by BALAJI</a:t>
            </a:r>
          </a:p>
          <a:p>
            <a:pPr algn="ctr">
              <a:lnSpc>
                <a:spcPts val="42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55666">
            <a:off x="15046734" y="6345056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21374">
            <a:off x="-1084773" y="-3327728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5390" y="8128033"/>
            <a:ext cx="1566543" cy="156654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64456" y="9205812"/>
            <a:ext cx="11234139" cy="52488"/>
            <a:chOff x="0" y="0"/>
            <a:chExt cx="635000" cy="2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2967"/>
            </a:xfrm>
            <a:custGeom>
              <a:avLst/>
              <a:gdLst/>
              <a:ahLst/>
              <a:cxnLst/>
              <a:rect r="r" b="b" t="t" l="l"/>
              <a:pathLst>
                <a:path h="2967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64456" y="4064413"/>
            <a:ext cx="12595589" cy="2158175"/>
            <a:chOff x="0" y="0"/>
            <a:chExt cx="1162605" cy="1992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2605" cy="199205"/>
            </a:xfrm>
            <a:custGeom>
              <a:avLst/>
              <a:gdLst/>
              <a:ahLst/>
              <a:cxnLst/>
              <a:rect r="r" b="b" t="t" l="l"/>
              <a:pathLst>
                <a:path h="199205" w="1162605">
                  <a:moveTo>
                    <a:pt x="12005" y="0"/>
                  </a:moveTo>
                  <a:lnTo>
                    <a:pt x="1150600" y="0"/>
                  </a:lnTo>
                  <a:cubicBezTo>
                    <a:pt x="1153784" y="0"/>
                    <a:pt x="1156837" y="1265"/>
                    <a:pt x="1159089" y="3516"/>
                  </a:cubicBezTo>
                  <a:cubicBezTo>
                    <a:pt x="1161340" y="5768"/>
                    <a:pt x="1162605" y="8821"/>
                    <a:pt x="1162605" y="12005"/>
                  </a:cubicBezTo>
                  <a:lnTo>
                    <a:pt x="1162605" y="187200"/>
                  </a:lnTo>
                  <a:cubicBezTo>
                    <a:pt x="1162605" y="190384"/>
                    <a:pt x="1161340" y="193437"/>
                    <a:pt x="1159089" y="195689"/>
                  </a:cubicBezTo>
                  <a:cubicBezTo>
                    <a:pt x="1156837" y="197940"/>
                    <a:pt x="1153784" y="199205"/>
                    <a:pt x="1150600" y="199205"/>
                  </a:cubicBezTo>
                  <a:lnTo>
                    <a:pt x="12005" y="199205"/>
                  </a:lnTo>
                  <a:cubicBezTo>
                    <a:pt x="8821" y="199205"/>
                    <a:pt x="5768" y="197940"/>
                    <a:pt x="3516" y="195689"/>
                  </a:cubicBezTo>
                  <a:cubicBezTo>
                    <a:pt x="1265" y="193437"/>
                    <a:pt x="0" y="190384"/>
                    <a:pt x="0" y="187200"/>
                  </a:cubicBezTo>
                  <a:lnTo>
                    <a:pt x="0" y="12005"/>
                  </a:lnTo>
                  <a:cubicBezTo>
                    <a:pt x="0" y="8821"/>
                    <a:pt x="1265" y="5768"/>
                    <a:pt x="3516" y="3516"/>
                  </a:cubicBezTo>
                  <a:cubicBezTo>
                    <a:pt x="5768" y="1265"/>
                    <a:pt x="8821" y="0"/>
                    <a:pt x="12005" y="0"/>
                  </a:cubicBezTo>
                  <a:close/>
                </a:path>
              </a:pathLst>
            </a:custGeom>
            <a:solidFill>
              <a:srgbClr val="D1ED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62605" cy="237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46205" y="6491237"/>
            <a:ext cx="12595589" cy="2158175"/>
            <a:chOff x="0" y="0"/>
            <a:chExt cx="1162605" cy="1992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2605" cy="199205"/>
            </a:xfrm>
            <a:custGeom>
              <a:avLst/>
              <a:gdLst/>
              <a:ahLst/>
              <a:cxnLst/>
              <a:rect r="r" b="b" t="t" l="l"/>
              <a:pathLst>
                <a:path h="199205" w="1162605">
                  <a:moveTo>
                    <a:pt x="12005" y="0"/>
                  </a:moveTo>
                  <a:lnTo>
                    <a:pt x="1150600" y="0"/>
                  </a:lnTo>
                  <a:cubicBezTo>
                    <a:pt x="1153784" y="0"/>
                    <a:pt x="1156837" y="1265"/>
                    <a:pt x="1159089" y="3516"/>
                  </a:cubicBezTo>
                  <a:cubicBezTo>
                    <a:pt x="1161340" y="5768"/>
                    <a:pt x="1162605" y="8821"/>
                    <a:pt x="1162605" y="12005"/>
                  </a:cubicBezTo>
                  <a:lnTo>
                    <a:pt x="1162605" y="187200"/>
                  </a:lnTo>
                  <a:cubicBezTo>
                    <a:pt x="1162605" y="190384"/>
                    <a:pt x="1161340" y="193437"/>
                    <a:pt x="1159089" y="195689"/>
                  </a:cubicBezTo>
                  <a:cubicBezTo>
                    <a:pt x="1156837" y="197940"/>
                    <a:pt x="1153784" y="199205"/>
                    <a:pt x="1150600" y="199205"/>
                  </a:cubicBezTo>
                  <a:lnTo>
                    <a:pt x="12005" y="199205"/>
                  </a:lnTo>
                  <a:cubicBezTo>
                    <a:pt x="8821" y="199205"/>
                    <a:pt x="5768" y="197940"/>
                    <a:pt x="3516" y="195689"/>
                  </a:cubicBezTo>
                  <a:cubicBezTo>
                    <a:pt x="1265" y="193437"/>
                    <a:pt x="0" y="190384"/>
                    <a:pt x="0" y="187200"/>
                  </a:cubicBezTo>
                  <a:lnTo>
                    <a:pt x="0" y="12005"/>
                  </a:lnTo>
                  <a:cubicBezTo>
                    <a:pt x="0" y="8821"/>
                    <a:pt x="1265" y="5768"/>
                    <a:pt x="3516" y="3516"/>
                  </a:cubicBezTo>
                  <a:cubicBezTo>
                    <a:pt x="5768" y="1265"/>
                    <a:pt x="8821" y="0"/>
                    <a:pt x="12005" y="0"/>
                  </a:cubicBezTo>
                  <a:close/>
                </a:path>
              </a:pathLst>
            </a:custGeom>
            <a:solidFill>
              <a:srgbClr val="D1E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62605" cy="237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249266" y="4654344"/>
            <a:ext cx="952224" cy="978313"/>
          </a:xfrm>
          <a:custGeom>
            <a:avLst/>
            <a:gdLst/>
            <a:ahLst/>
            <a:cxnLst/>
            <a:rect r="r" b="b" t="t" l="l"/>
            <a:pathLst>
              <a:path h="978313" w="952224">
                <a:moveTo>
                  <a:pt x="0" y="0"/>
                </a:moveTo>
                <a:lnTo>
                  <a:pt x="952224" y="0"/>
                </a:lnTo>
                <a:lnTo>
                  <a:pt x="952224" y="978312"/>
                </a:lnTo>
                <a:lnTo>
                  <a:pt x="0" y="978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586284" y="4333113"/>
            <a:ext cx="10400537" cy="144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1"/>
              </a:lnSpc>
            </a:pPr>
            <a:r>
              <a:rPr lang="en-US" sz="2457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Understanding UI Elements: UI (User Interface) elements are the visual components users interact with in apps like Instagram, CapCut, Notes, and Gallery. These include buttons, icons, menus, sliders, text fields, and navigation bars.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64456" y="2397833"/>
            <a:ext cx="13073588" cy="11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1"/>
              </a:lnSpc>
            </a:pPr>
            <a:r>
              <a:rPr lang="en-US" b="true" sz="8612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0522" y="8319572"/>
            <a:ext cx="1071411" cy="13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39"/>
              </a:lnSpc>
            </a:pPr>
            <a:r>
              <a:rPr lang="en-US" b="true" sz="9515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68033" y="6759937"/>
            <a:ext cx="10400537" cy="144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1"/>
              </a:lnSpc>
            </a:pPr>
            <a:r>
              <a:rPr lang="en-US" sz="2457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Understanding UX: UX (User Experience) refers to the overall journey a user takes while interacting with an app. It encompasses usability, accessibility, visual design, and how intuitively users can achieve their goals in apps like Adobe, Instagram, and CapCut.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249266" y="7081168"/>
            <a:ext cx="952224" cy="978313"/>
          </a:xfrm>
          <a:custGeom>
            <a:avLst/>
            <a:gdLst/>
            <a:ahLst/>
            <a:cxnLst/>
            <a:rect r="r" b="b" t="t" l="l"/>
            <a:pathLst>
              <a:path h="978313" w="952224">
                <a:moveTo>
                  <a:pt x="0" y="0"/>
                </a:moveTo>
                <a:lnTo>
                  <a:pt x="952224" y="0"/>
                </a:lnTo>
                <a:lnTo>
                  <a:pt x="952224" y="978313"/>
                </a:lnTo>
                <a:lnTo>
                  <a:pt x="0" y="978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55666">
            <a:off x="15046734" y="6345056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21374">
            <a:off x="-1084773" y="-3327728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5390" y="8128033"/>
            <a:ext cx="1566543" cy="156654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64456" y="9205812"/>
            <a:ext cx="11234139" cy="52488"/>
            <a:chOff x="0" y="0"/>
            <a:chExt cx="635000" cy="2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2967"/>
            </a:xfrm>
            <a:custGeom>
              <a:avLst/>
              <a:gdLst/>
              <a:ahLst/>
              <a:cxnLst/>
              <a:rect r="r" b="b" t="t" l="l"/>
              <a:pathLst>
                <a:path h="2967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487847" y="3869873"/>
            <a:ext cx="4801502" cy="480150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64456" y="2397833"/>
            <a:ext cx="13073588" cy="11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1"/>
              </a:lnSpc>
            </a:pPr>
            <a:r>
              <a:rPr lang="en-US" b="true" sz="8612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ADOBE APPS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8899" y="4102925"/>
            <a:ext cx="8383484" cy="164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60"/>
              </a:lnSpc>
            </a:pPr>
            <a:r>
              <a:rPr lang="en-US" sz="2245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UI Elements: Adobe apps feature tool panels, layers panel, properties panel, and customizable workspaces. Toolbars are context-sensitive, adapting to the active task. Icons use consistent visual language across the Creative Cloud suite for familiarity.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0522" y="8319572"/>
            <a:ext cx="1071411" cy="13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39"/>
              </a:lnSpc>
            </a:pPr>
            <a:r>
              <a:rPr lang="en-US" b="true" sz="9515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237" y="6446075"/>
            <a:ext cx="8383484" cy="196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60"/>
              </a:lnSpc>
            </a:pPr>
            <a:r>
              <a:rPr lang="en-US" sz="2245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UX Design: Adobe prioritizes professional workflow with non-destructive editing, smart guides, and keyboard shortcuts. The learning curve is steep but rewarding, offering deep creative freedom. Workspace customization allows users to tailor layouts to their specific creative process.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55666">
            <a:off x="15046734" y="6345056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21374">
            <a:off x="-1084773" y="-3327728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5390" y="8128033"/>
            <a:ext cx="1566543" cy="156654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64456" y="9205812"/>
            <a:ext cx="11234139" cy="52488"/>
            <a:chOff x="0" y="0"/>
            <a:chExt cx="635000" cy="2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2967"/>
            </a:xfrm>
            <a:custGeom>
              <a:avLst/>
              <a:gdLst/>
              <a:ahLst/>
              <a:cxnLst/>
              <a:rect r="r" b="b" t="t" l="l"/>
              <a:pathLst>
                <a:path h="2967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487847" y="3869873"/>
            <a:ext cx="4801502" cy="480150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64456" y="2397833"/>
            <a:ext cx="13073588" cy="11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1"/>
              </a:lnSpc>
            </a:pPr>
            <a:r>
              <a:rPr lang="en-US" b="true" sz="8612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8899" y="4102925"/>
            <a:ext cx="8383484" cy="198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5"/>
              </a:lnSpc>
            </a:pPr>
            <a:r>
              <a:rPr lang="en-US" sz="2698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UI Elements: Stories bar at the top, Reels tab, bottom navigation bar, heart/like icons, comment bubbles, and share buttons create a visually consistent and recognizable interface across the app.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0522" y="8319572"/>
            <a:ext cx="1071411" cy="13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39"/>
              </a:lnSpc>
            </a:pPr>
            <a:r>
              <a:rPr lang="en-US" b="true" sz="9515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237" y="6446075"/>
            <a:ext cx="8383484" cy="198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5"/>
              </a:lnSpc>
            </a:pPr>
            <a:r>
              <a:rPr lang="en-US" sz="2698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UX Highlights: Endless scroll keeps users engaged, instant sharing via Stories and Reels enables quick content creation, and social engagement features like likes and comments drive strong user interaction.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55666">
            <a:off x="15046734" y="6345056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21374">
            <a:off x="-1084773" y="-3327728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5390" y="8128033"/>
            <a:ext cx="1566543" cy="156654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64456" y="9205812"/>
            <a:ext cx="11234139" cy="52488"/>
            <a:chOff x="0" y="0"/>
            <a:chExt cx="635000" cy="2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2967"/>
            </a:xfrm>
            <a:custGeom>
              <a:avLst/>
              <a:gdLst/>
              <a:ahLst/>
              <a:cxnLst/>
              <a:rect r="r" b="b" t="t" l="l"/>
              <a:pathLst>
                <a:path h="2967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487847" y="3869873"/>
            <a:ext cx="4801502" cy="480150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64456" y="2397833"/>
            <a:ext cx="13073588" cy="11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1"/>
              </a:lnSpc>
            </a:pPr>
            <a:r>
              <a:rPr lang="en-US" b="true" sz="8612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CAPCUT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8899" y="4102925"/>
            <a:ext cx="8383484" cy="159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</a:pPr>
            <a:r>
              <a:rPr lang="en-US" sz="2700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UI Elements: Timeline editor for frame-by-frame control, effects &amp; filters library, sticker/text overlays, audio mixer panel, and a prominent Export button for quick sharing.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0522" y="8319572"/>
            <a:ext cx="1071411" cy="13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39"/>
              </a:lnSpc>
            </a:pPr>
            <a:r>
              <a:rPr lang="en-US" b="true" sz="9515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237" y="6446075"/>
            <a:ext cx="8383484" cy="159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</a:pPr>
            <a:r>
              <a:rPr lang="en-US" sz="2700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UX Highlights: Intuitive drag-and-drop video editing, template-based creation for fast results, smooth transitions, auto-captions, and one-tap export optimized for social media platforms.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55666">
            <a:off x="15046734" y="6345056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21374">
            <a:off x="-1084773" y="-3327728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5390" y="8128033"/>
            <a:ext cx="1566543" cy="156654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64456" y="9205812"/>
            <a:ext cx="11234139" cy="52488"/>
            <a:chOff x="0" y="0"/>
            <a:chExt cx="635000" cy="2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2967"/>
            </a:xfrm>
            <a:custGeom>
              <a:avLst/>
              <a:gdLst/>
              <a:ahLst/>
              <a:cxnLst/>
              <a:rect r="r" b="b" t="t" l="l"/>
              <a:pathLst>
                <a:path h="2967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487847" y="3869873"/>
            <a:ext cx="4801502" cy="480150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64456" y="2397833"/>
            <a:ext cx="13073588" cy="11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1"/>
              </a:lnSpc>
            </a:pPr>
            <a:r>
              <a:rPr lang="en-US" b="true" sz="8612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NOTES APP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8899" y="4102925"/>
            <a:ext cx="8383484" cy="159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</a:pPr>
            <a:r>
              <a:rPr lang="en-US" sz="2700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UI Elements: Folder sidebar for organization, search bar with instant filtering, formatting toolbar (bold, italic, checklists), and pinned notes section for quick access.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0522" y="8319572"/>
            <a:ext cx="1071411" cy="13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39"/>
              </a:lnSpc>
            </a:pPr>
            <a:r>
              <a:rPr lang="en-US" b="true" sz="9515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237" y="6446075"/>
            <a:ext cx="8383484" cy="159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7"/>
              </a:lnSpc>
            </a:pPr>
            <a:r>
              <a:rPr lang="en-US" sz="2700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UX Highlights: Minimalist design reduces cognitive load, quick capture allows instant note creation, seamless iCloud/Google sync across devices ensures content is always accessible.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55666">
            <a:off x="15046734" y="6345056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21374">
            <a:off x="-1084773" y="-3327728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5390" y="8128033"/>
            <a:ext cx="1566543" cy="156654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764456" y="9205812"/>
            <a:ext cx="11234139" cy="52488"/>
            <a:chOff x="0" y="0"/>
            <a:chExt cx="635000" cy="2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2967"/>
            </a:xfrm>
            <a:custGeom>
              <a:avLst/>
              <a:gdLst/>
              <a:ahLst/>
              <a:cxnLst/>
              <a:rect r="r" b="b" t="t" l="l"/>
              <a:pathLst>
                <a:path h="2967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487847" y="3869873"/>
            <a:ext cx="4801502" cy="480150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64456" y="2397833"/>
            <a:ext cx="13073588" cy="11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1"/>
              </a:lnSpc>
            </a:pPr>
            <a:r>
              <a:rPr lang="en-US" b="true" sz="8612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GALLERY APP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8899" y="4102925"/>
            <a:ext cx="8383484" cy="198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5"/>
              </a:lnSpc>
            </a:pPr>
            <a:r>
              <a:rPr lang="en-US" sz="2698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UI Elements: Grid view layout for media display, album folders for organization, date/location headers for grouping, share button, selection toolbar, search icon, and overflow menu for additional options.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0522" y="8319572"/>
            <a:ext cx="1071411" cy="13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39"/>
              </a:lnSpc>
            </a:pPr>
            <a:r>
              <a:rPr lang="en-US" b="true" sz="9515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237" y="6446075"/>
            <a:ext cx="8383484" cy="198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5"/>
              </a:lnSpc>
            </a:pPr>
            <a:r>
              <a:rPr lang="en-US" sz="2698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UX Highlights: Visual-first organization makes browsing intuitive. Chronological grouping and smart albums enable quick media access. Pinch-to-zoom gestures and smooth scrolling enhance the viewing experience.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4456" y="2397833"/>
            <a:ext cx="13073588" cy="11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81"/>
              </a:lnSpc>
            </a:pPr>
            <a:r>
              <a:rPr lang="en-US" b="true" sz="8612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KEY TAKEAWAYS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3855666">
            <a:off x="15046734" y="6345056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1" y="0"/>
                </a:lnTo>
                <a:lnTo>
                  <a:pt x="5662001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21374">
            <a:off x="-1084773" y="-3327728"/>
            <a:ext cx="5662001" cy="5721512"/>
          </a:xfrm>
          <a:custGeom>
            <a:avLst/>
            <a:gdLst/>
            <a:ahLst/>
            <a:cxnLst/>
            <a:rect r="r" b="b" t="t" l="l"/>
            <a:pathLst>
              <a:path h="5721512" w="5662001">
                <a:moveTo>
                  <a:pt x="0" y="0"/>
                </a:moveTo>
                <a:lnTo>
                  <a:pt x="5662002" y="0"/>
                </a:lnTo>
                <a:lnTo>
                  <a:pt x="5662002" y="5721512"/>
                </a:lnTo>
                <a:lnTo>
                  <a:pt x="0" y="5721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5390" y="8128033"/>
            <a:ext cx="1566543" cy="15665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D8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64456" y="9205812"/>
            <a:ext cx="11234139" cy="52488"/>
            <a:chOff x="0" y="0"/>
            <a:chExt cx="635000" cy="29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2967"/>
            </a:xfrm>
            <a:custGeom>
              <a:avLst/>
              <a:gdLst/>
              <a:ahLst/>
              <a:cxnLst/>
              <a:rect r="r" b="b" t="t" l="l"/>
              <a:pathLst>
                <a:path h="2967" w="635000">
                  <a:moveTo>
                    <a:pt x="0" y="0"/>
                  </a:moveTo>
                  <a:lnTo>
                    <a:pt x="635000" y="0"/>
                  </a:lnTo>
                  <a:lnTo>
                    <a:pt x="635000" y="2967"/>
                  </a:lnTo>
                  <a:lnTo>
                    <a:pt x="0" y="2967"/>
                  </a:lnTo>
                  <a:close/>
                </a:path>
              </a:pathLst>
            </a:custGeom>
            <a:solidFill>
              <a:srgbClr val="81C1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" cy="4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990765" y="3941826"/>
            <a:ext cx="12222365" cy="12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5"/>
              </a:lnSpc>
            </a:pPr>
            <a:r>
              <a:rPr lang="en-US" sz="2698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Consistency in UI elements builds familiarity. When apps like Instagram, Adobe, and CapCut use recognizable icons, layouts, and interactions, users feel confident navigating without a learning curve.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0522" y="8319572"/>
            <a:ext cx="1071411" cy="13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39"/>
              </a:lnSpc>
            </a:pPr>
            <a:r>
              <a:rPr lang="en-US" b="true" sz="9515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90765" y="5505450"/>
            <a:ext cx="12222365" cy="12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5"/>
              </a:lnSpc>
            </a:pPr>
            <a:r>
              <a:rPr lang="en-US" sz="2698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Good UX prioritizes user goals and reduces friction. Whether in Notes, Gallery, or Adobe apps, intuitive flows and minimal steps keep users focused on their task rather than the interface.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90765" y="7069074"/>
            <a:ext cx="12222365" cy="12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5"/>
              </a:lnSpc>
            </a:pPr>
            <a:r>
              <a:rPr lang="en-US" sz="2698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Each app tailors its design to its core purpose. CapCut optimizes for quick edits, Instagram for visual storytelling, and Adobe for professional precision — form always follows function.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4456" y="4181949"/>
            <a:ext cx="851913" cy="80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6"/>
              </a:lnSpc>
            </a:pPr>
            <a:r>
              <a:rPr lang="en-US" b="true" sz="5796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1.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64456" y="5745573"/>
            <a:ext cx="851913" cy="80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6"/>
              </a:lnSpc>
            </a:pPr>
            <a:r>
              <a:rPr lang="en-US" b="true" sz="5796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2.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64456" y="7309197"/>
            <a:ext cx="1580066" cy="80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6"/>
              </a:lnSpc>
            </a:pPr>
            <a:r>
              <a:rPr lang="en-US" b="true" sz="5796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3.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4267" y="4131720"/>
            <a:ext cx="12119466" cy="209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75"/>
              </a:lnSpc>
            </a:pPr>
            <a:r>
              <a:rPr lang="en-US" b="true" sz="15132">
                <a:solidFill>
                  <a:srgbClr val="1C74BB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644591">
            <a:off x="14264060" y="-3736254"/>
            <a:ext cx="8047880" cy="8132468"/>
          </a:xfrm>
          <a:custGeom>
            <a:avLst/>
            <a:gdLst/>
            <a:ahLst/>
            <a:cxnLst/>
            <a:rect r="r" b="b" t="t" l="l"/>
            <a:pathLst>
              <a:path h="8132468" w="8047880">
                <a:moveTo>
                  <a:pt x="0" y="0"/>
                </a:moveTo>
                <a:lnTo>
                  <a:pt x="8047880" y="0"/>
                </a:lnTo>
                <a:lnTo>
                  <a:pt x="8047880" y="8132467"/>
                </a:lnTo>
                <a:lnTo>
                  <a:pt x="0" y="8132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34430">
            <a:off x="-2995240" y="5755692"/>
            <a:ext cx="8047880" cy="8132468"/>
          </a:xfrm>
          <a:custGeom>
            <a:avLst/>
            <a:gdLst/>
            <a:ahLst/>
            <a:cxnLst/>
            <a:rect r="r" b="b" t="t" l="l"/>
            <a:pathLst>
              <a:path h="8132468" w="8047880">
                <a:moveTo>
                  <a:pt x="0" y="0"/>
                </a:moveTo>
                <a:lnTo>
                  <a:pt x="8047880" y="0"/>
                </a:lnTo>
                <a:lnTo>
                  <a:pt x="8047880" y="8132468"/>
                </a:lnTo>
                <a:lnTo>
                  <a:pt x="0" y="813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84267" y="6328432"/>
            <a:ext cx="7623063" cy="31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9"/>
              </a:lnSpc>
            </a:pPr>
            <a:r>
              <a:rPr lang="en-US" sz="2326">
                <a:solidFill>
                  <a:srgbClr val="1C74BB"/>
                </a:solidFill>
                <a:latin typeface="Poppins"/>
                <a:ea typeface="Poppins"/>
                <a:cs typeface="Poppins"/>
                <a:sym typeface="Poppins"/>
              </a:rPr>
              <a:t>Questions? Let's discuss UI/UX in your favorite apps!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955889" y="6412636"/>
            <a:ext cx="6668103" cy="2900625"/>
          </a:xfrm>
          <a:custGeom>
            <a:avLst/>
            <a:gdLst/>
            <a:ahLst/>
            <a:cxnLst/>
            <a:rect r="r" b="b" t="t" l="l"/>
            <a:pathLst>
              <a:path h="2900625" w="6668103">
                <a:moveTo>
                  <a:pt x="0" y="0"/>
                </a:moveTo>
                <a:lnTo>
                  <a:pt x="6668103" y="0"/>
                </a:lnTo>
                <a:lnTo>
                  <a:pt x="6668103" y="2900625"/>
                </a:lnTo>
                <a:lnTo>
                  <a:pt x="0" y="2900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DAHOHF4UJZc</dc:identifier>
  <dcterms:modified xsi:type="dcterms:W3CDTF">2011-08-01T06:04:30Z</dcterms:modified>
  <cp:revision>1</cp:revision>
  <dc:title>Beige Neutral Watercolor Project Presentation Presentation</dc:title>
</cp:coreProperties>
</file>